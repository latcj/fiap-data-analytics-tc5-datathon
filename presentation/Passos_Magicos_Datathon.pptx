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69" r:id="rId16"/>
    <p:sldId id="272" r:id="rId17"/>
    <p:sldId id="271" r:id="rId18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24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Cambria"/>
              </a:defRPr>
            </a:pPr>
            <a:r>
              <a:rPr lang="pt-BR" sz="1300" b="0" i="0" u="none" strike="noStrike">
                <a:solidFill>
                  <a:srgbClr val="1B2A4A"/>
                </a:solidFill>
                <a:latin typeface="Cambria"/>
              </a:rPr>
              <a:t>Comparação entre os modelos testados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Acurácia no teste</c:v>
                </c:pt>
              </c:strCache>
            </c:strRef>
          </c:tx>
          <c:spPr>
            <a:solidFill>
              <a:srgbClr val="5A5A5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A5A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33C-4A33-A8F9-F3165DB6D2D5}"/>
              </c:ext>
            </c:extLst>
          </c:dPt>
          <c:dPt>
            <c:idx val="1"/>
            <c:invertIfNegative val="0"/>
            <c:bubble3D val="0"/>
            <c:spPr>
              <a:solidFill>
                <a:srgbClr val="ED32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33C-4A33-A8F9-F3165DB6D2D5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Regressão Logística</c:v>
                </c:pt>
                <c:pt idx="1">
                  <c:v>Random 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0.77</c:v>
                </c:pt>
                <c:pt idx="1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33C-4A33-A8F9-F3165DB6D2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3" name="Google Shape;33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fiap-tc5-risco-defasagem.streamlit.app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784080" y="-1188720"/>
            <a:ext cx="4114800" cy="4114800"/>
          </a:xfrm>
          <a:prstGeom prst="ellipse">
            <a:avLst/>
          </a:prstGeom>
          <a:solidFill>
            <a:srgbClr val="F58334">
              <a:alpha val="1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ED3237">
              <a:alpha val="1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A00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BBA00"/>
                </a:solidFill>
                <a:latin typeface="Calibri"/>
                <a:ea typeface="Calibri"/>
                <a:cs typeface="Calibri"/>
                <a:sym typeface="Calibri"/>
              </a:rPr>
              <a:t>DATATHON FIAP — FASE 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Passos Mágicos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3520440"/>
            <a:ext cx="8686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DEEA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D8DEEA"/>
                </a:solidFill>
                <a:latin typeface="Calibri"/>
                <a:ea typeface="Calibri"/>
                <a:cs typeface="Calibri"/>
                <a:sym typeface="Calibri"/>
              </a:rPr>
              <a:t>Análise dos indicadores da pesquisa PEDE (2022-2024) e um modelo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DEEA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D8DEEA"/>
                </a:solidFill>
                <a:latin typeface="Calibri"/>
                <a:ea typeface="Calibri"/>
                <a:cs typeface="Calibri"/>
                <a:sym typeface="Calibri"/>
              </a:rPr>
              <a:t>de previsão de risco de defasagem escolar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6B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AA6BF"/>
                </a:solidFill>
                <a:latin typeface="Calibri"/>
                <a:ea typeface="Calibri"/>
                <a:cs typeface="Calibri"/>
                <a:sym typeface="Calibri"/>
              </a:rPr>
              <a:t>Luiz Carvalho  ·  Pós-graduação em Data Analytics — FIAP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Quem é a Passos Mágicos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57200" y="128016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822960" y="1600200"/>
            <a:ext cx="466344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Uma ONG de Embu-Guaçu (SP) que há mais de 30 anos trabalha pela educação de crianças e jovens em situação de vulnerabilidade social.</a:t>
            </a: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Oferece educação de qualidade, apoio psicológico e psicopedagógico, e busca ampliar as oportunidades de vida dos alunos atendidos.</a:t>
            </a: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Hoje atende mais de 1.200 crianças e jovens.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126480" y="1280160"/>
            <a:ext cx="5577840" cy="4846320"/>
          </a:xfrm>
          <a:prstGeom prst="roundRect">
            <a:avLst>
              <a:gd name="adj" fmla="val 2264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8334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F58334"/>
                </a:solidFill>
                <a:latin typeface="Cambria"/>
                <a:ea typeface="Cambria"/>
                <a:cs typeface="Cambria"/>
                <a:sym typeface="Cambria"/>
              </a:rPr>
              <a:t>O objetivo deste trabalho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92240" y="2103120"/>
            <a:ext cx="493776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Passos Mágicos acompanha seus alunos todo ano através da pesquisa PEDE, que gera indicadores de desempenho, engajamento e bem-estar.</a:t>
            </a: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Este trabalho usa os dados de 2022, 2023 e 2024 para responder as 11 perguntas do desafio e testar se é possível prever, com antecedência, quais alunos correm risco de ficar para trás.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Fonte: passosmagicos.org.br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Os indicadores da pesquisa PEDE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457200" y="960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Todo ano, cada aluno recebe notas de 0 a 10 nestes indicadores: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57200" y="150876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640080" y="169164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640080" y="1691640"/>
            <a:ext cx="566928" cy="310896"/>
          </a:xfrm>
          <a:prstGeom prst="rect">
            <a:avLst/>
          </a:prstGeom>
          <a:solidFill>
            <a:srgbClr val="4A7B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640080" y="2130552"/>
            <a:ext cx="2286000" cy="116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Indicador de Adequaçao ao Nível</a:t>
            </a:r>
            <a:endParaRPr sz="12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 o aluno está na fase (nível escolar) esperada para idade dele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3246120" y="150876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3429000" y="169164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4A7B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3429000" y="1691640"/>
            <a:ext cx="566928" cy="310896"/>
          </a:xfrm>
          <a:prstGeom prst="rect">
            <a:avLst/>
          </a:prstGeom>
          <a:solidFill>
            <a:srgbClr val="4A7B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IDA</a:t>
            </a:r>
            <a:endParaRPr sz="1200" b="1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3429000" y="2130552"/>
            <a:ext cx="2286000" cy="116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Indicador de Aprendizagem</a:t>
            </a:r>
            <a:endParaRPr sz="125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Desempenho acadêmico (notas)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6035040" y="150876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6217920" y="169164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5CA7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6217920" y="1691640"/>
            <a:ext cx="566928" cy="310896"/>
          </a:xfrm>
          <a:prstGeom prst="rect">
            <a:avLst/>
          </a:prstGeom>
          <a:solidFill>
            <a:srgbClr val="4A7B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IEG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217920" y="2130552"/>
            <a:ext cx="2286000" cy="116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1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Indicador</a:t>
            </a:r>
            <a:r>
              <a:rPr lang="en-US" sz="1250" b="1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250" b="1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Engajamento</a:t>
            </a:r>
            <a:endParaRPr sz="1250" b="1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Engajamento</a:t>
            </a:r>
            <a:r>
              <a:rPr lang="en-US" sz="125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sz="125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aluno</a:t>
            </a:r>
            <a:r>
              <a:rPr lang="en-US" sz="125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com o </a:t>
            </a:r>
            <a:r>
              <a:rPr lang="en-US" sz="125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programa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823960" y="150876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9006840" y="169164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9006840" y="1691640"/>
            <a:ext cx="566928" cy="310896"/>
          </a:xfrm>
          <a:prstGeom prst="rect">
            <a:avLst/>
          </a:prstGeom>
          <a:solidFill>
            <a:srgbClr val="4A7B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IAA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9006840" y="2130552"/>
            <a:ext cx="2286000" cy="116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Indicador de Auto Avaliçao</a:t>
            </a:r>
            <a:endParaRPr sz="125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2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omo o próprio aluno se percebe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36576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640080" y="384048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4A7B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40080" y="3840480"/>
            <a:ext cx="566928" cy="310896"/>
          </a:xfrm>
          <a:prstGeom prst="rect">
            <a:avLst/>
          </a:prstGeom>
          <a:solidFill>
            <a:srgbClr val="4A7B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40080" y="4279392"/>
            <a:ext cx="2286000" cy="116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Indicador Psicossocial</a:t>
            </a:r>
            <a:endParaRPr sz="125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Aspectos psicossociais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246120" y="36576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3429000" y="384048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5CA7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3429000" y="3840480"/>
            <a:ext cx="566928" cy="310896"/>
          </a:xfrm>
          <a:prstGeom prst="rect">
            <a:avLst/>
          </a:prstGeom>
          <a:solidFill>
            <a:srgbClr val="4A7B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IPP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429000" y="4279392"/>
            <a:ext cx="2286000" cy="116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Indicador Psicopedagogico</a:t>
            </a:r>
            <a:endParaRPr sz="125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Aspectos psicopedagógicos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035040" y="36576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6217920" y="384048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217920" y="3840480"/>
            <a:ext cx="566928" cy="310896"/>
          </a:xfrm>
          <a:prstGeom prst="rect">
            <a:avLst/>
          </a:prstGeom>
          <a:solidFill>
            <a:srgbClr val="4A7B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IPV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217920" y="4279392"/>
            <a:ext cx="2286000" cy="116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Indicador de Ponto de Virada</a:t>
            </a:r>
            <a:endParaRPr sz="1250" b="1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2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inal de mudança na trajetória do aluno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8823960" y="36576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9006840" y="384048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4A7B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9006840" y="3840480"/>
            <a:ext cx="566928" cy="310896"/>
          </a:xfrm>
          <a:prstGeom prst="rect">
            <a:avLst/>
          </a:prstGeom>
          <a:solidFill>
            <a:srgbClr val="4A7BB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9006840" y="4279392"/>
            <a:ext cx="2286000" cy="116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Indice do Desenvolvimento Educacional</a:t>
            </a:r>
            <a:endParaRPr sz="125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Ponderaçao dos indicadores</a:t>
            </a:r>
            <a:endParaRPr sz="1250" b="0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IAN, IDA, IEG, IAA, IPS,</a:t>
            </a: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IPP e IPV</a:t>
            </a:r>
            <a:endParaRPr sz="12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57200" y="57150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Também existe a "Pedra": uma classificação geral do aluno pelo INDE, do nível mais básico ao mais avançado — Quartzo &lt; Ágata &lt; Ametista &lt; Topázio.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As perguntas que este trabalho responde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57200" y="960120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As 10 </a:t>
            </a:r>
            <a:r>
              <a:rPr lang="en-US" sz="1400" b="0" i="0" u="none" strike="noStrike" cap="none" dirty="0" err="1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perguntas</a:t>
            </a:r>
            <a:r>
              <a:rPr lang="en-US" sz="1400" b="0" i="0" u="none" strike="noStrike" cap="none" dirty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sz="1400" b="0" i="0" u="none" strike="noStrike" cap="none" dirty="0" err="1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desafio</a:t>
            </a:r>
            <a:r>
              <a:rPr lang="en-US" sz="1400" b="0" i="0" u="none" strike="noStrike" cap="none" dirty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US" sz="1400" b="0" i="0" u="none" strike="noStrike" cap="none" dirty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ordem</a:t>
            </a:r>
            <a:r>
              <a:rPr lang="en-US" sz="1400" b="0" i="0" u="none" strike="noStrike" cap="none" dirty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sz="1400" b="0" i="0" u="none" strike="noStrike" cap="none" dirty="0" err="1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enunciado</a:t>
            </a:r>
            <a:r>
              <a:rPr lang="en-US" sz="1400" b="0" i="0" u="none" strike="noStrike" cap="none" dirty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, e o slide de </a:t>
            </a:r>
            <a:r>
              <a:rPr lang="en-US" sz="1400" b="0" i="0" u="none" strike="noStrike" cap="none" dirty="0" err="1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US" sz="1400" b="0" i="0" u="none" strike="noStrike" cap="none" dirty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US" sz="1400" b="0" i="0" u="none" strike="noStrike" cap="none" dirty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57200" y="1463040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621792" y="163677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621792" y="1637947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1170432" y="1563624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Adequação ao nível (IAN)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1170432" y="1865376"/>
            <a:ext cx="370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Perfil de defasagem e sua evolução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937760" y="1636776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57200" y="2304288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621792" y="247802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1170432" y="2404872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Desempenho acadêmico (IDA)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170432" y="2706624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Está melhorando, estagnado ou caindo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937760" y="2478024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57200" y="3145536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621792" y="331927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1170432" y="3246120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Engajamento (IEG)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170432" y="3547872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Relação com desempenho e ponto de virada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937760" y="3319272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57200" y="3986784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621792" y="416052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1170432" y="4087368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Autoavaliação (IAA)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170432" y="4389120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Coerência com o desempenho real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937760" y="4160520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57200" y="4828032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621792" y="500176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1170432" y="4928616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Psicossocial (IPS)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1170432" y="5230368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Antecede quedas de desempenho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937760" y="5001768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57200" y="5669280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621792" y="584301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1170432" y="5769864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Psicopedagógico (IPP)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170432" y="6071616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Confirma ou contradiz o IAN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937760" y="5843016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10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126480" y="1463040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291072" y="163677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839712" y="1563624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Ponto de virada (IPV)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839712" y="1865376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O que mais o influencia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0607040" y="1636776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11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126480" y="2304288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6291072" y="247802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6839712" y="2404872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Multidimensionalidade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839712" y="2706624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Que combinação eleva o INDE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0607040" y="2478024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12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126480" y="3145536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6291072" y="331927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6839712" y="3246120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Previsão de risco (ML)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839712" y="3547872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Modelo preditivo de defasagem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0607040" y="3319272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13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126480" y="3986784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291072" y="416052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839712" y="4087368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mbria"/>
              <a:buNone/>
            </a:pPr>
            <a:r>
              <a:rPr lang="en-US" sz="125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Efetividade do programa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839712" y="4389120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Melhora consistente ao longo do ciclo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0607040" y="4160520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C4A7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4A72"/>
                </a:solidFill>
                <a:latin typeface="Calibri"/>
                <a:ea typeface="Calibri"/>
                <a:cs typeface="Calibri"/>
                <a:sym typeface="Calibri"/>
              </a:rPr>
              <a:t>slide 14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21792" y="2478022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21792" y="3319272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21792" y="4160522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21792" y="5001772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21792" y="5843022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291067" y="164013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291067" y="2478022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291067" y="3319272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291067" y="4160522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O nível dos alunos está melhorando?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Qual é o perfil geral de defasagem dos alunos (IAN) e como ele evolui?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7" descr="presentation/assets_v3/p01_ia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8334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58334"/>
                </a:solidFill>
                <a:latin typeface="Cambria"/>
                <a:ea typeface="Cambria"/>
                <a:cs typeface="Cambria"/>
                <a:sym typeface="Cambria"/>
              </a:rPr>
              <a:t>22% → 8%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alunos em defasagem severa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defasagem cai de forma consistente nos três anos e o IAN médio sobe de 6,42 para 7,68.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É o indicador com a evolução mais clara de todos: a fatia de alunos adiantados passa de 1% para 12%.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024169" y="6391675"/>
            <a:ext cx="6017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IAN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de Adequaçao ao Nível - Se o aluno está na fase (nível escolar) esperada para idade dele</a:t>
            </a: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207008" y="329184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 o desempenho acadêmico acompanha?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O IDA está melhorando, estagnado ou caindo ao longo das fases e anos?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8" descr="presentation/assets_v3/p02_id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D32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ED3237"/>
                </a:solidFill>
                <a:latin typeface="Cambria"/>
                <a:ea typeface="Cambria"/>
                <a:cs typeface="Cambria"/>
                <a:sym typeface="Cambria"/>
              </a:rPr>
              <a:t>6,09 → 6,35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IDA médio em 3 anos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Não acompanha. O IDA sobe em 2023 e volta a cair em 2024, ficando praticamente estagnado.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Por fase aparece um vale claro nas fases 2 e 3, abaixo das demais nos três anos seguidos.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991944" y="6391675"/>
            <a:ext cx="6017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IDA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de Aprendizagem - Desempenho acadêmico (notas)</a:t>
            </a: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583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Quem se engaja mais tem resultado melhor?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O engajamento (IEG) tem relação direta com o desempenho (IDA) e o ponto de virada (IPV)?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9" descr="presentation/assets_v3/p03_ie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8334"/>
              </a:buClr>
              <a:buSzPts val="3000"/>
              <a:buFont typeface="Cambria"/>
              <a:buNone/>
            </a:pPr>
            <a:r>
              <a:rPr lang="en-US" sz="3000" b="1" i="0" u="none" strike="noStrike" cap="none" dirty="0">
                <a:solidFill>
                  <a:srgbClr val="F58334"/>
                </a:solidFill>
                <a:latin typeface="Cambria"/>
                <a:ea typeface="Cambria"/>
                <a:cs typeface="Cambria"/>
                <a:sym typeface="Cambria"/>
              </a:rPr>
              <a:t>r ≈ 0,55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correlação com IDA e IPV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Sim, nos dois casos, com força moderada.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Não é determinístico — existe aluno engajado com nota baixa — mas a tendência é consistente o bastante para usar o engajamento como sinal.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200" y="384048"/>
            <a:ext cx="567000" cy="567000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991950" y="6185856"/>
            <a:ext cx="6017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pt-BR" sz="1000" b="1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IEG </a:t>
            </a:r>
            <a:r>
              <a:rPr lang="pt-BR" sz="1000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- Indicador de Engajamento - Engajamento do aluno com o programa</a:t>
            </a:r>
            <a:endParaRPr lang="en-US" sz="1000" dirty="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IDA</a:t>
            </a:r>
            <a:r>
              <a:rPr lang="en-US" sz="1000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000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Indicador</a:t>
            </a:r>
            <a:r>
              <a:rPr lang="en-US" sz="1000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000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Aprendizagem</a:t>
            </a:r>
            <a:r>
              <a:rPr lang="en-US" sz="1000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000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Desempenho</a:t>
            </a:r>
            <a:r>
              <a:rPr lang="en-US" sz="1000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acadêmico</a:t>
            </a:r>
            <a:r>
              <a:rPr lang="en-US" sz="1000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000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notas</a:t>
            </a:r>
            <a:r>
              <a:rPr lang="en-US" sz="1000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US" sz="1000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IPV</a:t>
            </a:r>
            <a:r>
              <a:rPr lang="en-US" sz="1000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000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Indicador</a:t>
            </a:r>
            <a:r>
              <a:rPr lang="en-US" sz="1000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de Ponto de </a:t>
            </a:r>
            <a:r>
              <a:rPr lang="en-US" sz="1000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Virada</a:t>
            </a:r>
            <a:r>
              <a:rPr lang="en-US" sz="1000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000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Sinal</a:t>
            </a:r>
            <a:r>
              <a:rPr lang="en-US" sz="1000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000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mudança</a:t>
            </a:r>
            <a:r>
              <a:rPr lang="en-US" sz="1000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US" sz="1000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trajetória</a:t>
            </a:r>
            <a:r>
              <a:rPr lang="en-US" sz="1000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sz="1000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aluno</a:t>
            </a:r>
            <a:endParaRPr sz="1000" dirty="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endParaRPr sz="1000" dirty="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Os alunos se avaliam bem?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As percepções dos alunos sobre si mesmos (IAA) são coerentes com o desempenho real?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0" descr="presentation/assets_v3/p04_ia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0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A00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BBA00"/>
                </a:solidFill>
                <a:latin typeface="Cambria"/>
                <a:ea typeface="Cambria"/>
                <a:cs typeface="Cambria"/>
                <a:sym typeface="Cambria"/>
              </a:rPr>
              <a:t>+1,54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ponto de otimismo (IAA − IDA)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Não. A correlação entre autoavaliação e desempenho real é de apenas 0,12, e na média os alunos se avaliam 1,54 ponto acima da nota que tiram.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autoavaliação sozinha não serve como alerta.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57200" y="384048"/>
            <a:ext cx="567000" cy="567000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991944" y="6391667"/>
            <a:ext cx="6017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IDA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de Aprendizagem - Desempenho acadêmico (notas)</a:t>
            </a:r>
            <a:b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IAA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de Auto Avaliçao - Como o próprio aluno se percebe</a:t>
            </a: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37C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O lado psicossocial antecipa a queda?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Há padrões psicossociais (IPS) que antecedem quedas de desempenho ou de engajamento?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1" descr="presentation/assets_v3/p05_ip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1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CD8F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37CD8F"/>
                </a:solidFill>
                <a:latin typeface="Cambria"/>
                <a:ea typeface="Cambria"/>
                <a:cs typeface="Cambria"/>
                <a:sym typeface="Cambria"/>
              </a:rPr>
              <a:t>5,70 vs 6,24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IPS de quem caiu vs não caiu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Existe um sinal, mas fraco. Quem cai no ano seguinte já vinha com IPS mais baixo — a diferença é mais visível na queda de engajamento do que na de desempenho.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Serve como peça de um conjunto, não como alerta isolado.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457200" y="384048"/>
            <a:ext cx="567000" cy="567000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1024194" y="6391675"/>
            <a:ext cx="6017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IPS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Psicossocial - Aspectos psicossociais</a:t>
            </a: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5CA7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 avaliação psicopedagógica confirma o IAN?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As avaliações psicopedagógicas (IPP) confirmam ou contradizem a defasagem do IAN?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12" descr="presentation/assets_v3/p06_ip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2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A7E8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5CA7E8"/>
                </a:solidFill>
                <a:latin typeface="Cambria"/>
                <a:ea typeface="Cambria"/>
                <a:cs typeface="Cambria"/>
                <a:sym typeface="Cambria"/>
              </a:rPr>
              <a:t>r = 0,12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correlação IPP × IAN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Confirma a direção — quem está mais defasado tem IPP mais baixo, de 7,11 a 7,93 — mas a relação é fraca.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São indicadores complementares: medem coisas diferentes e não substituem um ao outro.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457200" y="384048"/>
            <a:ext cx="567000" cy="567000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991944" y="6226992"/>
            <a:ext cx="6017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IPP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Psicopedagogico - Aspectos psicopedagógicos</a:t>
            </a:r>
            <a:b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IAN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de Adequaçao ao Nível - Se o aluno está na fase (nível escolar) esperada para idade dele</a:t>
            </a:r>
            <a:endParaRPr sz="1000" b="1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583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O que mais influencia o ponto de virada?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Quais comportamentos — acadêmicos, emocionais ou de engajamento — mais influenciam o IPV?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3" descr="presentation/assets_v3/p07_ipv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3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3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8334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58334"/>
                </a:solidFill>
                <a:latin typeface="Cambria"/>
                <a:ea typeface="Cambria"/>
                <a:cs typeface="Cambria"/>
                <a:sym typeface="Cambria"/>
              </a:rPr>
              <a:t>IPP e IEG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os dois maiores fatores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 acompanhamento psicopedagógico (0,61) e o engajamento (0,56) lideram, com o desempenho logo atrás.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virada na trajetória tem mais a ver com acompanhamento e envolvimento do que com nota isolada.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457200" y="384048"/>
            <a:ext cx="567000" cy="567000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991944" y="6226992"/>
            <a:ext cx="6017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IPP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Psicopedagogico - Aspectos psicopedagógicos</a:t>
            </a:r>
            <a:b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IEG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Indicador de Engajamento - Engajamento do aluno com o programa</a:t>
            </a: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Que combinação eleva mais a nota geral?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Quais combinações de indicadores (IDA + IEG + IPS + IPP) elevam mais o INDE?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14" descr="presentation/assets_v3/p08_ind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4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D32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ED3237"/>
                </a:solidFill>
                <a:latin typeface="Cambria"/>
                <a:ea typeface="Cambria"/>
                <a:cs typeface="Cambria"/>
                <a:sym typeface="Cambria"/>
              </a:rPr>
              <a:t>6,11 → 8,44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INDE de 0 para 4 indicadores altos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 INDE é puxado por IDA, IEG e IPV — e o efeito é cumulativo.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Quem está acima da mediana nos quatro indicadores-chave ao mesmo tempo tem INDE muito maior do que quem está bem em apenas um. Nenhum indicador resolve sozinho.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457200" y="384048"/>
            <a:ext cx="567000" cy="567000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1024194" y="6391675"/>
            <a:ext cx="6017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INDE - 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Indice do Desenvolvimento Educacional - Ponderaçao dos indicadores - IAN, IDA, IEG, IAA, IPS, IPP e IPV</a:t>
            </a: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Dá pra prever quem vai entrar em risco?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Quais padrões permitem identificar alunos em risco antes da queda de desempenho?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15" descr="presentation/assets_v3/p09_risc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5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D32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37CD8F"/>
                </a:solidFill>
                <a:latin typeface="Cambria"/>
                <a:ea typeface="Cambria"/>
                <a:cs typeface="Cambria"/>
                <a:sym typeface="Cambria"/>
              </a:rPr>
              <a:t>8,0</a:t>
            </a:r>
            <a:r>
              <a:rPr lang="en-US" sz="3000" b="1" i="0" u="none" strike="noStrike" cap="none">
                <a:solidFill>
                  <a:srgbClr val="ED3237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000" b="1" i="0" u="none" strike="noStrike" cap="none">
                <a:solidFill>
                  <a:srgbClr val="2C4A72"/>
                </a:solidFill>
                <a:latin typeface="Cambria"/>
                <a:ea typeface="Cambria"/>
                <a:cs typeface="Cambria"/>
                <a:sym typeface="Cambria"/>
              </a:rPr>
              <a:t>vs</a:t>
            </a:r>
            <a:r>
              <a:rPr lang="en-US" sz="3000" b="1" i="0" u="none" strike="noStrike" cap="none">
                <a:solidFill>
                  <a:srgbClr val="ED3237"/>
                </a:solidFill>
                <a:latin typeface="Cambria"/>
                <a:ea typeface="Cambria"/>
                <a:cs typeface="Cambria"/>
                <a:sym typeface="Cambria"/>
              </a:rPr>
              <a:t> 6,0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IAN um ano antes, por grupo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Sim.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dois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grupos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já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separam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um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ano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antes,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principalmente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IAN e IPP — é esse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sinal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antecipado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torna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previsão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possível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457200" y="384048"/>
            <a:ext cx="567000" cy="567000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991944" y="6227003"/>
            <a:ext cx="6017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IAN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de Adequaçao ao Nível - Se o aluno está na fase (nível escolar) esperada para idade dele</a:t>
            </a: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IPP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Indicador Psicopedagogico - Aspectos psicopedagógicos</a:t>
            </a: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0"/>
          <p:cNvGraphicFramePr/>
          <p:nvPr/>
        </p:nvGraphicFramePr>
        <p:xfrm>
          <a:off x="457200" y="1508760"/>
          <a:ext cx="70866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79476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confusão — conjunto de teste (273 alunos)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57200" y="4160520"/>
          <a:ext cx="7086600" cy="169164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Previsto: sem risco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Previsto: em risco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sem risco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7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A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em risco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7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1508760"/>
            <a:ext cx="3931920" cy="4343400"/>
          </a:xfrm>
          <a:prstGeom prst="roundRect">
            <a:avLst>
              <a:gd name="adj" fmla="val 2791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804672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32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por classe</a:t>
            </a:r>
            <a:endParaRPr lang="en-US" sz="14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633293"/>
              </p:ext>
            </p:extLst>
          </p:nvPr>
        </p:nvGraphicFramePr>
        <p:xfrm>
          <a:off x="8046720" y="2103120"/>
          <a:ext cx="3383280" cy="105156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risco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risco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8046720" y="3273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Acurácia geral: 80%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8046720" y="365760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r>
              <a:rPr lang="en-US" sz="1250" b="1" dirty="0" err="1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</a:t>
            </a:r>
            <a:r>
              <a:rPr lang="en-US" sz="1250" b="1" dirty="0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80%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20% teste,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mantendo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proporção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conjuntos (stratify).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</a:t>
            </a:r>
            <a:r>
              <a:rPr lang="en-US" sz="1250" b="1" dirty="0" err="1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50" b="1" dirty="0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recall </a:t>
            </a:r>
            <a:r>
              <a:rPr lang="en-US" sz="1250" b="1" dirty="0" err="1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</a:t>
            </a:r>
            <a:r>
              <a:rPr lang="en-US" sz="1250" b="1" dirty="0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250" b="1" dirty="0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Deixar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custa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recall de 83%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pesou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isolada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notebooks/02_model_training.ipynb — conjunto de teste (273 alunos)</a:t>
            </a:r>
            <a:endParaRPr lang="en-US" sz="900" dirty="0"/>
          </a:p>
        </p:txBody>
      </p:sp>
      <p:sp>
        <p:nvSpPr>
          <p:cNvPr id="9" name="Google Shape;310;p16">
            <a:extLst>
              <a:ext uri="{FF2B5EF4-FFF2-40B4-BE49-F238E27FC236}">
                <a16:creationId xmlns:a16="http://schemas.microsoft.com/office/drawing/2014/main" id="{B7D019E4-EF4C-73C2-45BC-9D591E9C95BA}"/>
              </a:ext>
            </a:extLst>
          </p:cNvPr>
          <p:cNvSpPr/>
          <p:nvPr/>
        </p:nvSpPr>
        <p:spPr>
          <a:xfrm>
            <a:off x="457200" y="384048"/>
            <a:ext cx="567000" cy="567000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11;p16">
            <a:extLst>
              <a:ext uri="{FF2B5EF4-FFF2-40B4-BE49-F238E27FC236}">
                <a16:creationId xmlns:a16="http://schemas.microsoft.com/office/drawing/2014/main" id="{9CB3E922-499C-4943-2690-31899833C9E5}"/>
              </a:ext>
            </a:extLst>
          </p:cNvPr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303;p16">
            <a:extLst>
              <a:ext uri="{FF2B5EF4-FFF2-40B4-BE49-F238E27FC236}">
                <a16:creationId xmlns:a16="http://schemas.microsoft.com/office/drawing/2014/main" id="{FEE3605C-B8B7-C95E-5944-F57D2E4F03F9}"/>
              </a:ext>
            </a:extLst>
          </p:cNvPr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</a:t>
            </a:r>
            <a:r>
              <a:rPr lang="en-US" sz="23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3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foi</a:t>
            </a: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3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avaliado</a:t>
            </a:r>
            <a:endParaRPr lang="en-US" sz="2300" dirty="0"/>
          </a:p>
        </p:txBody>
      </p:sp>
      <p:sp>
        <p:nvSpPr>
          <p:cNvPr id="25" name="Google Shape;304;p16">
            <a:extLst>
              <a:ext uri="{FF2B5EF4-FFF2-40B4-BE49-F238E27FC236}">
                <a16:creationId xmlns:a16="http://schemas.microsoft.com/office/drawing/2014/main" id="{9C31FA59-68CC-760A-D841-631D3156B5C2}"/>
              </a:ext>
            </a:extLst>
          </p:cNvPr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8A8A8A"/>
              </a:buClr>
              <a:buSzPts val="1150"/>
            </a:pPr>
            <a:r>
              <a:rPr lang="pt-BR" sz="1150" i="1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O modelo foi testado com 273 alunos que ele nunca viu durante o treino.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37C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6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1207008" y="329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lang="en-US" sz="2300" b="1" i="0" u="none" strike="noStrike" cap="none" dirty="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O </a:t>
            </a:r>
            <a:r>
              <a:rPr lang="en-US" sz="2300" b="1" i="0" u="none" strike="noStrike" cap="none" dirty="0" err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programa</a:t>
            </a:r>
            <a:r>
              <a:rPr lang="en-US" sz="2300" b="1" i="0" u="none" strike="noStrike" cap="none" dirty="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300" b="1" i="0" u="none" strike="noStrike" cap="none" dirty="0" err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está</a:t>
            </a:r>
            <a:r>
              <a:rPr lang="en-US" sz="2300" b="1" i="0" u="none" strike="noStrike" cap="none" dirty="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300" b="1" i="0" u="none" strike="noStrike" cap="none" dirty="0" err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funcionando</a:t>
            </a:r>
            <a:r>
              <a:rPr lang="en-US" sz="2300" b="1" i="0" u="none" strike="noStrike" cap="none" dirty="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?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1207008" y="8046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50"/>
              <a:buFont typeface="Calibri"/>
              <a:buNone/>
            </a:pP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indicadores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mostram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melhora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consistente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ao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longo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ciclo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confirmando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impacto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sz="1150" b="0" i="1" u="none" strike="noStrike" cap="none" dirty="0" err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programa</a:t>
            </a:r>
            <a:r>
              <a:rPr lang="en-US" sz="1150" b="0" i="1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16" descr="presentation/assets_v3/p10_efetividad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71600"/>
            <a:ext cx="708660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6"/>
          <p:cNvSpPr/>
          <p:nvPr/>
        </p:nvSpPr>
        <p:spPr>
          <a:xfrm>
            <a:off x="7772400" y="13716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8046720" y="16459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CD8F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37CD8F"/>
                </a:solidFill>
                <a:latin typeface="Cambria"/>
                <a:ea typeface="Cambria"/>
                <a:cs typeface="Cambria"/>
                <a:sym typeface="Cambria"/>
              </a:rPr>
              <a:t>15,1% → 30,9%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8046720" y="23042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alunos na pedra Topázio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8046720" y="283464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Sim. A fatia na pedra mais básica (Quartzo) cai de 15,3% para 10,6%, e a fatia na pedra mais avançada (Topázio) mais que dobra.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 deslocamento para cima é consistente ao longo dos três anos.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457200" y="384048"/>
            <a:ext cx="567000" cy="567000"/>
          </a:xfrm>
          <a:prstGeom prst="ellipse">
            <a:avLst/>
          </a:prstGeom>
          <a:solidFill>
            <a:srgbClr val="2C4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6"/>
          <p:cNvSpPr/>
          <p:nvPr/>
        </p:nvSpPr>
        <p:spPr>
          <a:xfrm>
            <a:off x="457163" y="38401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1024125" y="6391675"/>
            <a:ext cx="68184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lang="en-US" sz="1000" b="1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Pedra</a:t>
            </a: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 - uma classificação geral do aluno pelo INDE, do nível mais básico ao mais avançado — Quartzo &lt; Ágata &lt; Ametista &lt; Topázio.</a:t>
            </a:r>
            <a:endParaRPr sz="1000">
              <a:solidFill>
                <a:srgbClr val="8A8A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9"/>
          <p:cNvSpPr/>
          <p:nvPr/>
        </p:nvSpPr>
        <p:spPr>
          <a:xfrm>
            <a:off x="-1097280" y="-1371600"/>
            <a:ext cx="3840480" cy="3840480"/>
          </a:xfrm>
          <a:prstGeom prst="ellipse">
            <a:avLst/>
          </a:prstGeom>
          <a:solidFill>
            <a:srgbClr val="F58334">
              <a:alpha val="1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9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Conclusão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640080" y="128016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8DEEA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D8DEEA"/>
                </a:solidFill>
                <a:latin typeface="Calibri"/>
                <a:ea typeface="Calibri"/>
                <a:cs typeface="Calibri"/>
                <a:sym typeface="Calibri"/>
              </a:rPr>
              <a:t>Os indicadores mostram evolução real ao longo dos 3 anos, e já dá pra antecipar boa parte do risco de defasagem usando o que a Passos Mágicos já coleta hoje.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640080" y="228600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9"/>
          <p:cNvSpPr/>
          <p:nvPr/>
        </p:nvSpPr>
        <p:spPr>
          <a:xfrm>
            <a:off x="914400" y="246888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A00"/>
              </a:buClr>
              <a:buSzPts val="1450"/>
              <a:buFont typeface="Cambria"/>
              <a:buNone/>
            </a:pPr>
            <a:r>
              <a:rPr lang="en-US" sz="1450" b="1" i="0" u="none" strike="noStrike" cap="none">
                <a:solidFill>
                  <a:srgbClr val="FBBA00"/>
                </a:solidFill>
                <a:latin typeface="Cambria"/>
                <a:ea typeface="Cambria"/>
                <a:cs typeface="Cambria"/>
                <a:sym typeface="Cambria"/>
              </a:rPr>
              <a:t>Priorizar engajamento e acompanhamento psicopedagógico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914400" y="306324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DEE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D8DEEA"/>
                </a:solidFill>
                <a:latin typeface="Calibri"/>
                <a:ea typeface="Calibri"/>
                <a:cs typeface="Calibri"/>
                <a:sym typeface="Calibri"/>
              </a:rPr>
              <a:t>são os dois fatores mais ligados à virada positiva na trajetória do aluno.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6263640" y="228600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9"/>
          <p:cNvSpPr/>
          <p:nvPr/>
        </p:nvSpPr>
        <p:spPr>
          <a:xfrm>
            <a:off x="6537960" y="246888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A00"/>
              </a:buClr>
              <a:buSzPts val="1450"/>
              <a:buFont typeface="Cambria"/>
              <a:buNone/>
            </a:pPr>
            <a:r>
              <a:rPr lang="en-US" sz="1450" b="1" i="0" u="none" strike="noStrike" cap="none">
                <a:solidFill>
                  <a:srgbClr val="FBBA00"/>
                </a:solidFill>
                <a:latin typeface="Cambria"/>
                <a:ea typeface="Cambria"/>
                <a:cs typeface="Cambria"/>
                <a:sym typeface="Cambria"/>
              </a:rPr>
              <a:t>Criar um alerta de queda de engajamento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6537960" y="306324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DEE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D8DEEA"/>
                </a:solidFill>
                <a:latin typeface="Calibri"/>
                <a:ea typeface="Calibri"/>
                <a:cs typeface="Calibri"/>
                <a:sym typeface="Calibri"/>
              </a:rPr>
              <a:t>o IEG cai antes da saída, então antecipa evasão e não só queda de nota.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640080" y="425196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9"/>
          <p:cNvSpPr/>
          <p:nvPr/>
        </p:nvSpPr>
        <p:spPr>
          <a:xfrm>
            <a:off x="914400" y="443484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A00"/>
              </a:buClr>
              <a:buSzPts val="1450"/>
              <a:buFont typeface="Cambria"/>
              <a:buNone/>
            </a:pPr>
            <a:r>
              <a:rPr lang="en-US" sz="1450" b="1" i="0" u="none" strike="noStrike" cap="none">
                <a:solidFill>
                  <a:srgbClr val="FBBA00"/>
                </a:solidFill>
                <a:latin typeface="Cambria"/>
                <a:ea typeface="Cambria"/>
                <a:cs typeface="Cambria"/>
                <a:sym typeface="Cambria"/>
              </a:rPr>
              <a:t>Concentrar reforço nas fases 2 e 3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914400" y="502920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DEE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D8DEEA"/>
                </a:solidFill>
                <a:latin typeface="Calibri"/>
                <a:ea typeface="Calibri"/>
                <a:cs typeface="Calibri"/>
                <a:sym typeface="Calibri"/>
              </a:rPr>
              <a:t>é onde o desempenho acadêmico fica mais baixo, de forma consistente.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6263640" y="425196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9"/>
          <p:cNvSpPr/>
          <p:nvPr/>
        </p:nvSpPr>
        <p:spPr>
          <a:xfrm>
            <a:off x="6537960" y="443484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A00"/>
              </a:buClr>
              <a:buSzPts val="1450"/>
              <a:buFont typeface="Cambria"/>
              <a:buNone/>
            </a:pPr>
            <a:r>
              <a:rPr lang="en-US" sz="1450" b="1" i="0" u="none" strike="noStrike" cap="none">
                <a:solidFill>
                  <a:srgbClr val="FBBA00"/>
                </a:solidFill>
                <a:latin typeface="Cambria"/>
                <a:ea typeface="Cambria"/>
                <a:cs typeface="Cambria"/>
                <a:sym typeface="Cambria"/>
              </a:rPr>
              <a:t>Usar o modelo como apoio, não como decisão final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6537960" y="502920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DEE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D8DEEA"/>
                </a:solidFill>
                <a:latin typeface="Calibri"/>
                <a:ea typeface="Calibri"/>
                <a:cs typeface="Calibri"/>
                <a:sym typeface="Calibri"/>
              </a:rPr>
              <a:t>o julgamento da equipe pedagógica continua sendo o mais importante.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Uma ferramenta pra usar o modelo no dia a dia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457200" y="10058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O modelo foi colocado dentro de um aplicativo simples (Streamlit) para a equipe pedagógica usar sem precisar mexer em código.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457200" y="17830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8"/>
          <p:cNvSpPr/>
          <p:nvPr/>
        </p:nvSpPr>
        <p:spPr>
          <a:xfrm>
            <a:off x="777240" y="210312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F583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8"/>
          <p:cNvSpPr/>
          <p:nvPr/>
        </p:nvSpPr>
        <p:spPr>
          <a:xfrm>
            <a:off x="777240" y="2103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777240" y="28803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Avaliar um aluno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777240" y="333756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Preenche os indicadores de um aluno e vê na hora a probabilidade de risco no ano seguinte.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4233672" y="17830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8"/>
          <p:cNvSpPr/>
          <p:nvPr/>
        </p:nvSpPr>
        <p:spPr>
          <a:xfrm>
            <a:off x="4553712" y="210312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ED32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8"/>
          <p:cNvSpPr/>
          <p:nvPr/>
        </p:nvSpPr>
        <p:spPr>
          <a:xfrm>
            <a:off x="4553712" y="2103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4553712" y="28803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Avaliar em lote (CSV)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4553712" y="333756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Sobe uma planilha com vários alunos de uma vez e recebe o risco calculado pra cada um.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8010144" y="17830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8"/>
          <p:cNvSpPr/>
          <p:nvPr/>
        </p:nvSpPr>
        <p:spPr>
          <a:xfrm>
            <a:off x="8330184" y="210312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37C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8"/>
          <p:cNvSpPr/>
          <p:nvPr/>
        </p:nvSpPr>
        <p:spPr>
          <a:xfrm>
            <a:off x="8330184" y="2103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8330184" y="28803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Sobre o modelo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8330184" y="333756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Explica em linguagem simples como o modelo funciona e quais são seus limites.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hape 17">
            <a:extLst>
              <a:ext uri="{FF2B5EF4-FFF2-40B4-BE49-F238E27FC236}">
                <a16:creationId xmlns:a16="http://schemas.microsoft.com/office/drawing/2014/main" id="{C73541AD-ED85-2FEC-B732-EC447C352999}"/>
              </a:ext>
            </a:extLst>
          </p:cNvPr>
          <p:cNvSpPr/>
          <p:nvPr/>
        </p:nvSpPr>
        <p:spPr>
          <a:xfrm>
            <a:off x="457200" y="6108192"/>
            <a:ext cx="11247120" cy="566928"/>
          </a:xfrm>
          <a:prstGeom prst="roundRect">
            <a:avLst>
              <a:gd name="adj" fmla="val 1612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18">
            <a:extLst>
              <a:ext uri="{FF2B5EF4-FFF2-40B4-BE49-F238E27FC236}">
                <a16:creationId xmlns:a16="http://schemas.microsoft.com/office/drawing/2014/main" id="{E386558A-C33C-AC7D-CBE3-E6398E8628EA}"/>
              </a:ext>
            </a:extLst>
          </p:cNvPr>
          <p:cNvSpPr/>
          <p:nvPr/>
        </p:nvSpPr>
        <p:spPr>
          <a:xfrm>
            <a:off x="457200" y="61081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o app:  </a:t>
            </a: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https://fiap-tc5-risco-defasagem.streamlit.app/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1847</Words>
  <Application>Microsoft Office PowerPoint</Application>
  <PresentationFormat>Widescreen</PresentationFormat>
  <Paragraphs>248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Luiz Carvalho</cp:lastModifiedBy>
  <cp:revision>5</cp:revision>
  <dcterms:modified xsi:type="dcterms:W3CDTF">2026-08-09T19:15:55Z</dcterms:modified>
</cp:coreProperties>
</file>